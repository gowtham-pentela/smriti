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97280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0" b="1" i="0">
                <a:solidFill>
                  <a:srgbClr val="FFFFFF"/>
                </a:solidFill>
                <a:latin typeface="Helvetica Neue"/>
              </a:rPr>
              <a:t>Smriti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8346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0" i="0">
                <a:solidFill>
                  <a:srgbClr val="60A5FA"/>
                </a:solidFill>
                <a:latin typeface="Helvetica Neue"/>
              </a:rPr>
              <a:t>The internal knowledge agent that refuses to guess.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5204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94A3B8"/>
                </a:solidFill>
                <a:latin typeface="Helvetica Neue"/>
              </a:rPr>
              <a:t>Multimodal RAG for banks, insurers, and other regulated enterprises.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572000"/>
            <a:ext cx="10607040" cy="118872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7091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Helvetica Neue"/>
              </a:rPr>
              <a:t>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0292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Compliance teams can't ship copilots that hallucinate.   We built one that doesn't.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Helvetica Neue"/>
              </a:rPr>
              <a:t>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Helvetica Neue"/>
              </a:rPr>
              <a:t>SMRITI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Helvetica Neue"/>
              </a:rPr>
              <a:t>internal knowledge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164592"/>
            <a:ext cx="1371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Helvetica Neue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Helvetica Neue"/>
              </a:rPr>
              <a:t>SMRITI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Helvetica Neue"/>
              </a:rPr>
              <a:t>internal knowledge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Helvetica Neue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 Neue"/>
              </a:rPr>
              <a:t>What is Smriti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94A3B8"/>
                </a:solidFill>
                <a:latin typeface="Helvetica Neue"/>
              </a:rPr>
              <a:t>Plain English, no acronyms.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11091672" cy="393192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91440" cy="39319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  <a:latin typeface="Helvetica Neue"/>
              </a:rPr>
              <a:t>An AI search 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7004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E5E7EB"/>
                </a:solidFill>
                <a:latin typeface="Helvetica Neue"/>
              </a:rPr>
              <a:t>for everything your company has ever written, screenshotted, or recorded.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  <a:latin typeface="Helvetica Neue"/>
              </a:rPr>
              <a:t>One answer, one citation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38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E5E7EB"/>
                </a:solidFill>
                <a:latin typeface="Helvetica Neue"/>
              </a:rPr>
              <a:t>an employee types a question in plain English and gets a single answer, with a citation to the exact file and section it came from.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  <a:latin typeface="Helvetica Neue"/>
              </a:rPr>
              <a:t>It says no when it should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0740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E5E7EB"/>
                </a:solidFill>
                <a:latin typeface="Helvetica Neue"/>
              </a:rPr>
              <a:t>if the answer isn't in the company's own documents, Smriti says so. It does not make one 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  <a:latin typeface="Helvetica Neue"/>
              </a:rPr>
              <a:t>It runs on the customer's own servers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7608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E5E7EB"/>
                </a:solidFill>
                <a:latin typeface="Helvetica Neue"/>
              </a:rPr>
              <a:t>in their VPC, behind their firewall. No data ever leaves. No SaaS, no third-party API.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Helvetica Neue"/>
              </a:rPr>
              <a:t>Not ChatGPT for work. Not a Copilot wrapper. Not a vector DB with a UI. A grounded, auditable, on-prem knowledge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Helvetica Neue"/>
              </a:rPr>
              <a:t>SMRITI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Helvetica Neue"/>
              </a:rPr>
              <a:t>internal knowledge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Helvetica Neue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 Neue"/>
              </a:rPr>
              <a:t>Why we built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94A3B8"/>
                </a:solidFill>
                <a:latin typeface="Helvetica Neue"/>
              </a:rPr>
              <a:t>I was the analyst waiting days for an answer. Smriti is what I wished existed.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5852160" cy="448056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91440" cy="44805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Helvetica Neue"/>
              </a:rPr>
              <a:t>The founder's 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60320"/>
            <a:ext cx="544068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Helvetica Neue"/>
              </a:rPr>
              <a:t>During Covid I worked remotely at Accenture on insurance claims workflows. I had no idea how those workflows actually ran. The knowledge lived in senior heads, not anywhere I could reach.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93008"/>
            <a:ext cx="544068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Helvetica Neue"/>
              </a:rPr>
              <a:t>I would wait whole days for a senior to answer a single question. They wanted to help, but they were tangled in their own deliverables and could 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25696"/>
            <a:ext cx="544068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Helvetica Neue"/>
              </a:rPr>
              <a:t>Worse, I kept hitting the same errors other developers had already hit. Each one needed a senior to confirm the fix. More days lost, on repeat.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58384"/>
            <a:ext cx="544068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Helvetica Neue"/>
              </a:rPr>
              <a:t>Smriti is what I wished existed then: the team's knowledge in one place, answerable in seconds, with sensitive data never leaving the company intranet.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2011680"/>
            <a:ext cx="5010912" cy="4480560"/>
          </a:xfrm>
          <a:prstGeom prst="roundRect">
            <a:avLst>
              <a:gd name="adj" fmla="val 6000"/>
            </a:avLst>
          </a:prstGeom>
          <a:solidFill>
            <a:srgbClr val="1C243A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148840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Helvetica Neue"/>
              </a:rPr>
              <a:t>What this means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6974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Helvetica Neue"/>
              </a:rPr>
              <a:t>▸  </a:t>
            </a:r>
            <a:r>
              <a:rPr sz="1300">
                <a:solidFill>
                  <a:srgbClr val="E5E7EB"/>
                </a:solidFill>
                <a:latin typeface="Helvetica Neue"/>
              </a:rPr>
              <a:t>The pain is personal, not researched. The founder was the blocked analyst.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Helvetica Neue"/>
              </a:rPr>
              <a:t>▸  </a:t>
            </a:r>
            <a:r>
              <a:rPr sz="1300">
                <a:solidFill>
                  <a:srgbClr val="E5E7EB"/>
                </a:solidFill>
                <a:latin typeface="Helvetica Neue"/>
              </a:rPr>
              <a:t>Built for the person waiting on a senior, not the exec buying a tool.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Helvetica Neue"/>
              </a:rPr>
              <a:t>▸  </a:t>
            </a:r>
            <a:r>
              <a:rPr sz="1300">
                <a:solidFill>
                  <a:srgbClr val="E5E7EB"/>
                </a:solidFill>
                <a:latin typeface="Helvetica Neue"/>
              </a:rPr>
              <a:t>Data sovereignty is the founding constraint, not a feature bolted on later.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Helvetica Neue"/>
              </a:rPr>
              <a:t>▸  </a:t>
            </a:r>
            <a:r>
              <a:rPr sz="1300">
                <a:solidFill>
                  <a:srgbClr val="E5E7EB"/>
                </a:solidFill>
                <a:latin typeface="Helvetica Neue"/>
              </a:rPr>
              <a:t>AI is now widely available. The open question is who owns how your data is used. Smriti keeps that ownership in the customer's hands.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Helvetica Neue"/>
              </a:rPr>
              <a:t>SMRITI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Helvetica Neue"/>
              </a:rPr>
              <a:t>internal knowledge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Helvetica Neue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 Neue"/>
              </a:rPr>
              <a:t>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94A3B8"/>
                </a:solidFill>
                <a:latin typeface="Helvetica Neue"/>
              </a:rPr>
              <a:t>Every regulated enterprise has the same problem.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91440" cy="40233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3200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Helvetica Neue"/>
              </a:rPr>
              <a:t>Knowledge is everywhere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3200400" cy="3108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  <a:latin typeface="Helvetica Neue"/>
              </a:rPr>
              <a:t>RBI memos in drives. KYC flow in Confluence. Org chart in a PNG. Compliance briefing in a video. None of it is searchable together.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1" y="219456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1" y="2194560"/>
            <a:ext cx="91440" cy="402336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1" y="2331720"/>
            <a:ext cx="3200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Helvetica Neue"/>
              </a:rPr>
              <a:t>Employees can't find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1" y="2926080"/>
            <a:ext cx="3200400" cy="3108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  <a:latin typeface="Helvetica Neue"/>
              </a:rPr>
              <a:t>Finding the right document is slow and manual, scattered across formats and systems. A regulated answer needs a citation, not a vibe.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3" y="219456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3" y="2194560"/>
            <a:ext cx="91440" cy="40233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3" y="2331720"/>
            <a:ext cx="3200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Helvetica Neue"/>
              </a:rPr>
              <a:t>Generic copilots can't 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3" y="2926080"/>
            <a:ext cx="3200400" cy="3108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  <a:latin typeface="Helvetica Neue"/>
              </a:rPr>
              <a:t>Off-the-shelf LLMs hallucinate regulatory citations. Compliance teams block the rollout. AI budgets stay unspent.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Helvetica Neue"/>
              </a:rPr>
              <a:t>SMRITI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Helvetica Neue"/>
              </a:rPr>
              <a:t>internal knowledge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Helvetica Neue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 Neue"/>
              </a:rPr>
              <a:t>The product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94A3B8"/>
                </a:solidFill>
                <a:latin typeface="Helvetica Neue"/>
              </a:rPr>
              <a:t>One agent that reads everything the company knows, and only answers from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4937760" cy="448056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4572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60A5FA"/>
                </a:solidFill>
                <a:latin typeface="Helvetica Neue"/>
              </a:rPr>
              <a:t>▸  </a:t>
            </a:r>
            <a:r>
              <a:rPr sz="1400">
                <a:solidFill>
                  <a:srgbClr val="E5E7EB"/>
                </a:solidFill>
                <a:latin typeface="Helvetica Neue"/>
              </a:rPr>
              <a:t>Indexes markdown, PDFs, images, video, audio, and code into one pgvector store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60A5FA"/>
                </a:solidFill>
                <a:latin typeface="Helvetica Neue"/>
              </a:rPr>
              <a:t>▸  </a:t>
            </a:r>
            <a:r>
              <a:rPr sz="1400">
                <a:solidFill>
                  <a:srgbClr val="E5E7EB"/>
                </a:solidFill>
                <a:latin typeface="Helvetica Neue"/>
              </a:rPr>
              <a:t>Hybrid retrieval: dense vectors plus full-text, fused and re-ranked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60A5FA"/>
                </a:solidFill>
                <a:latin typeface="Helvetica Neue"/>
              </a:rPr>
              <a:t>▸  </a:t>
            </a:r>
            <a:r>
              <a:rPr sz="1400">
                <a:solidFill>
                  <a:srgbClr val="E5E7EB"/>
                </a:solidFill>
                <a:latin typeface="Helvetica Neue"/>
              </a:rPr>
              <a:t>ReAct agent reasons across the corpus with five read-only tools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60A5FA"/>
                </a:solidFill>
                <a:latin typeface="Helvetica Neue"/>
              </a:rPr>
              <a:t>▸  </a:t>
            </a:r>
            <a:r>
              <a:rPr sz="1400">
                <a:solidFill>
                  <a:srgbClr val="E5E7EB"/>
                </a:solidFill>
                <a:latin typeface="Helvetica Neue"/>
              </a:rPr>
              <a:t>Two-layer grounding check on every answer, claims must appear in source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60A5FA"/>
                </a:solidFill>
                <a:latin typeface="Helvetica Neue"/>
              </a:rPr>
              <a:t>▸  </a:t>
            </a:r>
            <a:r>
              <a:rPr sz="1400">
                <a:solidFill>
                  <a:srgbClr val="E5E7EB"/>
                </a:solidFill>
                <a:latin typeface="Helvetica Neue"/>
              </a:rPr>
              <a:t>Refuses cleanly when the answer isn't in the corpus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60A5FA"/>
                </a:solidFill>
                <a:latin typeface="Helvetica Neue"/>
              </a:rPr>
              <a:t>▸  </a:t>
            </a:r>
            <a:r>
              <a:rPr sz="1400">
                <a:solidFill>
                  <a:srgbClr val="E5E7EB"/>
                </a:solidFill>
                <a:latin typeface="Helvetica Neue"/>
              </a:rPr>
              <a:t>Returns a citation for every fact, not a vibe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194560"/>
            <a:ext cx="5852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Helvetica Neue"/>
              </a:rPr>
              <a:t>Reads screenshots, PDFs, and narrated video, like a person would.</a:t>
            </a:r>
          </a:p>
        </p:txBody>
      </p:sp>
      <p:pic>
        <p:nvPicPr>
          <p:cNvPr id="13" name="Picture 12" descr="dashboard-mrr-q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606040"/>
            <a:ext cx="5852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Helvetica Neue"/>
              </a:rPr>
              <a:t>SMRITI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Helvetica Neue"/>
              </a:rPr>
              <a:t>internal knowledge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Helvetica Neue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 Neue"/>
              </a:rPr>
              <a:t>Why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94A3B8"/>
                </a:solidFill>
                <a:latin typeface="Helvetica Neue"/>
              </a:rPr>
              <a:t>The window is open, on both sides of the ocean.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91440" cy="429768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331720"/>
            <a:ext cx="2286000" cy="411480"/>
          </a:xfrm>
          <a:prstGeom prst="roundRect">
            <a:avLst>
              <a:gd name="adj" fmla="val 6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2286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0B121F"/>
                </a:solidFill>
                <a:latin typeface="Helvetica Neue"/>
              </a:rPr>
              <a:t>Federal + state + sectoral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9377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United States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11880"/>
            <a:ext cx="49377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0A5FA"/>
                </a:solidFill>
                <a:latin typeface="Helvetica Neue"/>
              </a:rPr>
              <a:t>▸  </a:t>
            </a:r>
            <a:r>
              <a:rPr sz="1100">
                <a:solidFill>
                  <a:srgbClr val="E5E7EB"/>
                </a:solidFill>
                <a:latin typeface="Helvetica Neue"/>
              </a:rPr>
              <a:t>OCC SR 11-7 (model risk management): examiners now apply it to third-party AI. A bank that ships a copilot with no audit trail or refusal log risks a Matter Requiring Attention.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0A5FA"/>
                </a:solidFill>
                <a:latin typeface="Helvetica Neue"/>
              </a:rPr>
              <a:t>▸  </a:t>
            </a:r>
            <a:r>
              <a:rPr sz="1100">
                <a:solidFill>
                  <a:srgbClr val="E5E7EB"/>
                </a:solidFill>
                <a:latin typeface="Helvetica Neue"/>
              </a:rPr>
              <a:t>SEC cybersecurity disclosure rules: put the CISO on the hook for AI data flows. Copilots that call home fail on day one. Smriti is single-tenant, no egress.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0A5FA"/>
                </a:solidFill>
                <a:latin typeface="Helvetica Neue"/>
              </a:rPr>
              <a:t>▸  </a:t>
            </a:r>
            <a:r>
              <a:rPr sz="1100">
                <a:solidFill>
                  <a:srgbClr val="E5E7EB"/>
                </a:solidFill>
                <a:latin typeface="Helvetica Neue"/>
              </a:rPr>
              <a:t>NIST AI RMF plus the GenAI Profile: the de facto standard for federal procurement and the largest US banks. Smriti maps directly to VALIDATE and VERIFY.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0A5FA"/>
                </a:solidFill>
                <a:latin typeface="Helvetica Neue"/>
              </a:rPr>
              <a:t>▸  </a:t>
            </a:r>
            <a:r>
              <a:rPr sz="1100">
                <a:solidFill>
                  <a:srgbClr val="E5E7EB"/>
                </a:solidFill>
                <a:latin typeface="Helvetica Neue"/>
              </a:rPr>
              <a:t>State insurance regulators (NAIC model bulletin on AI): pushing insurers toward documented AI governance and impact assessments.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219456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2194560"/>
            <a:ext cx="91440" cy="42976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19088" y="2331720"/>
            <a:ext cx="2286000" cy="411480"/>
          </a:xfrm>
          <a:prstGeom prst="roundRect">
            <a:avLst>
              <a:gd name="adj" fmla="val 6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377440"/>
            <a:ext cx="2286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0B121F"/>
                </a:solidFill>
                <a:latin typeface="Helvetica Neue"/>
              </a:rPr>
              <a:t>RBI + SEBI + IRDAI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926080"/>
            <a:ext cx="49377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611880"/>
            <a:ext cx="49377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A78BFA"/>
                </a:solidFill>
                <a:latin typeface="Helvetica Neue"/>
              </a:rPr>
              <a:t>▸  </a:t>
            </a:r>
            <a:r>
              <a:rPr sz="1100">
                <a:solidFill>
                  <a:srgbClr val="E5E7EB"/>
                </a:solidFill>
                <a:latin typeface="Helvetica Neue"/>
              </a:rPr>
              <a:t>RBI: digital lending and AI/ML supervisory expectations now require explainability, auditability, and an AI use-case inventory for NBFCs.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A78BFA"/>
                </a:solidFill>
                <a:latin typeface="Helvetica Neue"/>
              </a:rPr>
              <a:t>▸  </a:t>
            </a:r>
            <a:r>
              <a:rPr sz="1100">
                <a:solidFill>
                  <a:srgbClr val="E5E7EB"/>
                </a:solidFill>
                <a:latin typeface="Helvetica Neue"/>
              </a:rPr>
              <a:t>RBI expects a documented review process for any AI-assisted decisioning on credit, KYC, or customer service. A hallucinated answer fails this on its face.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A78BFA"/>
                </a:solidFill>
                <a:latin typeface="Helvetica Neue"/>
              </a:rPr>
              <a:t>▸  </a:t>
            </a:r>
            <a:r>
              <a:rPr sz="1100">
                <a:solidFill>
                  <a:srgbClr val="E5E7EB"/>
                </a:solidFill>
                <a:latin typeface="Helvetica Neue"/>
              </a:rPr>
              <a:t>SEBI: AI/ML in markets is pushing broker-dealers, mutual funds, and RTAs to formalize AI governance. Smriti's citation-first, refusal-aware design fits directly.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A78BFA"/>
                </a:solidFill>
                <a:latin typeface="Helvetica Neue"/>
              </a:rPr>
              <a:t>▸  </a:t>
            </a:r>
            <a:r>
              <a:rPr sz="1100">
                <a:solidFill>
                  <a:srgbClr val="E5E7EB"/>
                </a:solidFill>
                <a:latin typeface="Helvetica Neue"/>
              </a:rPr>
              <a:t>IRDAI: AI use by insurers requires documented model governance, periodic validation, and a human-in-the-loop for material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Helvetica Neue"/>
              </a:rPr>
              <a:t>SMRITI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Helvetica Neue"/>
              </a:rPr>
              <a:t>internal knowledge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Helvetica Neue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 Neue"/>
              </a:rPr>
              <a:t>How it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94A3B8"/>
                </a:solidFill>
                <a:latin typeface="Helvetica Neue"/>
              </a:rPr>
              <a:t>Sources to ingest to vector store to ReAct agent to grounded response.</a:t>
            </a:r>
          </a:p>
        </p:txBody>
      </p:sp>
      <p:pic>
        <p:nvPicPr>
          <p:cNvPr id="9" name="Picture 8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968" y="1965960"/>
            <a:ext cx="812901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Helvetica Neue"/>
              </a:rPr>
              <a:t>SMRITI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Helvetica Neue"/>
              </a:rPr>
              <a:t>internal knowledge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Helvetica Neue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 Neue"/>
              </a:rPr>
              <a:t>The moat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94A3B8"/>
                </a:solidFill>
                <a:latin typeface="Helvetica Neue"/>
              </a:rPr>
              <a:t>Anyone can wrap an LLM. We make it safe to put in front of a regulator.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5029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Helvetica Neue"/>
              </a:rPr>
              <a:t>Four things that don't exist in a wrapper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Helvetica Neue"/>
              </a:rPr>
              <a:t>▸  </a:t>
            </a:r>
            <a:r>
              <a:rPr sz="1400">
                <a:solidFill>
                  <a:srgbClr val="E5E7EB"/>
                </a:solidFill>
                <a:latin typeface="Helvetica Neue"/>
              </a:rPr>
              <a:t>Claim-level grounding: every number, date, and name is verified against the source, then a second guard re-checks concrete claims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Helvetica Neue"/>
              </a:rPr>
              <a:t>▸  </a:t>
            </a:r>
            <a:r>
              <a:rPr sz="1400">
                <a:solidFill>
                  <a:srgbClr val="E5E7EB"/>
                </a:solidFill>
                <a:latin typeface="Helvetica Neue"/>
              </a:rPr>
              <a:t>Strict refusal: no answer beats a wrong answer in a regulated workflow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Helvetica Neue"/>
              </a:rPr>
              <a:t>▸  </a:t>
            </a:r>
            <a:r>
              <a:rPr sz="1400">
                <a:solidFill>
                  <a:srgbClr val="E5E7EB"/>
                </a:solidFill>
                <a:latin typeface="Helvetica Neue"/>
              </a:rPr>
              <a:t>Sidecar priority: human-written markdown wins over the vision model's interpretation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Helvetica Neue"/>
              </a:rPr>
              <a:t>▸  </a:t>
            </a:r>
            <a:r>
              <a:rPr sz="1400">
                <a:solidFill>
                  <a:srgbClr val="E5E7EB"/>
                </a:solidFill>
                <a:latin typeface="Helvetica Neue"/>
              </a:rPr>
              <a:t>On-prem, no egress: data stays in the customer's VPC, no telemetry, no sub-processors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94560"/>
            <a:ext cx="5440680" cy="4480560"/>
          </a:xfrm>
          <a:prstGeom prst="roundRect">
            <a:avLst>
              <a:gd name="adj" fmla="val 6000"/>
            </a:avLst>
          </a:prstGeom>
          <a:solidFill>
            <a:srgbClr val="1C243A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Helvetica Neue"/>
              </a:rPr>
              <a:t>What it looks like in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4320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60A5FA"/>
                </a:solidFill>
                <a:latin typeface="Menlo"/>
              </a:rPr>
              <a:t>Q: What was our Q2 MRR figure in crores?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502920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Helvetica Neue"/>
              </a:rPr>
              <a:t>“Q2 MRR was INR 4.8 Crore, up 22% QoQ. [Source: multimedia/dashboard-mrr-q2.md | Section 1]”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0624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60A5FA"/>
                </a:solidFill>
                <a:latin typeface="Menlo"/>
              </a:rPr>
              <a:t>Q: What is the revenue of Tesla?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663440"/>
            <a:ext cx="502920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F87171"/>
                </a:solidFill>
                <a:latin typeface="Helvetica Neue"/>
              </a:rPr>
              <a:t>“I don't have that information from the indexed documents. No relevant content was found that supports an answer.”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Helvetica Neue"/>
              </a:rPr>
              <a:t>SMRITI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Helvetica Neue"/>
              </a:rPr>
              <a:t>internal knowledge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Helvetica Neue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 Neue"/>
              </a:rPr>
              <a:t>The proof: measured, not claimed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94A3B8"/>
                </a:solidFill>
                <a:latin typeface="Helvetica Neue"/>
              </a:rPr>
              <a:t>64-question evaluation on a public 819-document benchmark. Zero fabricated answers.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091672" cy="1325880"/>
          </a:xfrm>
          <a:prstGeom prst="roundRect">
            <a:avLst>
              <a:gd name="adj" fmla="val 6000"/>
            </a:avLst>
          </a:prstGeom>
          <a:solidFill>
            <a:srgbClr val="1C243A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91440" cy="13258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3200400" cy="11887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6400" b="1" i="0">
                <a:solidFill>
                  <a:srgbClr val="34D399"/>
                </a:solidFill>
                <a:latin typeface="Helvetica Neue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057400"/>
            <a:ext cx="7315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elvetica Neue"/>
              </a:rPr>
              <a:t>Never made things 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514600"/>
            <a:ext cx="7315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Helvetica Neue"/>
              </a:rPr>
              <a:t>Across 64 questions and 4 test types, every answer was either cited to a real source or honestly refused. Zero invented facts, the property regulated buyers need.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8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493008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Answerable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767328"/>
            <a:ext cx="2377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Helvetica Neue"/>
              </a:rPr>
              <a:t>30 Qs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041648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34D399"/>
                </a:solidFill>
                <a:latin typeface="Helvetica Neue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52628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Helvetica Neue"/>
              </a:rPr>
              <a:t>Cited the real source, or said “I don't have that.”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28416" y="338328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9584" y="3493008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Out-of-corpus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9584" y="3767328"/>
            <a:ext cx="2377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Helvetica Neue"/>
              </a:rPr>
              <a:t>19 Qs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9584" y="4041648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34D399"/>
                </a:solidFill>
                <a:latin typeface="Helvetica Neue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584" y="452628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Helvetica Neue"/>
              </a:rPr>
              <a:t>Refused to guess on things it couldn't know.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08192" y="338328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493008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Trick questions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767328"/>
            <a:ext cx="2377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Helvetica Neue"/>
              </a:rPr>
              <a:t>12 Qs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041648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34D399"/>
                </a:solidFill>
                <a:latin typeface="Helvetica Neue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52628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Helvetica Neue"/>
              </a:rPr>
              <a:t>Real topic, absent detail, no invented specifics.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87968" y="338328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3493008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Two-document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767328"/>
            <a:ext cx="2377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Helvetica Neue"/>
              </a:rPr>
              <a:t>3 Qs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4041648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34D399"/>
                </a:solidFill>
                <a:latin typeface="Helvetica Neue"/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9136" y="452628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Helvetica Neue"/>
              </a:rPr>
              <a:t>Synthesized and cited both required sources.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230368"/>
            <a:ext cx="6400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60A5FA"/>
                </a:solidFill>
                <a:latin typeface="Helvetica Neue"/>
              </a:rPr>
              <a:t>Found the right document: 90%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596128"/>
            <a:ext cx="7772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Helvetica Neue"/>
              </a:rPr>
              <a:t>The 10% are wrong-source citations, real documents, just not the perfect one. Never a fake source. Improving: 53% then 73% then 90%.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285232"/>
            <a:ext cx="329184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200" b="1" i="0">
                <a:solidFill>
                  <a:srgbClr val="FBBF24"/>
                </a:solidFill>
                <a:latin typeface="Helvetica Neue"/>
              </a:rPr>
              <a:t>A weaker Smriti refuses more.
It never degrades into guessing.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Helvetica Neue"/>
              </a:rPr>
              <a:t>Public benchmark, not customer data; per-pilot numbers established on each customer's corpus. Recall not yet formally measured; answer-coverage proxy reported instead.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Helvetica Neue"/>
              </a:rPr>
              <a:t>SMRITI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Helvetica Neue"/>
              </a:rPr>
              <a:t>internal knowledge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Helvetica Neue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 Neue"/>
              </a:rPr>
              <a:t>Live demo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94A3B8"/>
                </a:solidFill>
                <a:latin typeface="Helvetica Neue"/>
              </a:rPr>
              <a:t>A real query, end to end, fully grounded.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11091672" cy="128016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91440" cy="128016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Helvetica Neue"/>
              </a:rPr>
              <a:t>1. 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304288"/>
            <a:ext cx="86868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Menlo"/>
              </a:rPr>
              <a:t>“What is the current status of the Pine Labs webhook incident?”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10698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Helvetica Neue"/>
              </a:rPr>
              <a:t>Routes to the agent over a single REST call.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11880"/>
            <a:ext cx="11091672" cy="128016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11880"/>
            <a:ext cx="91440" cy="12801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0332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Helvetica Neue"/>
              </a:rPr>
              <a:t>2. Retrieve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721608"/>
            <a:ext cx="86868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Menlo"/>
              </a:rPr>
              <a:t>search_documents(query='Pine Labs webhook', category='multimedia')
→ top hit: incident-status-board.md
→ read_chunk → verbatim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26280"/>
            <a:ext cx="10698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Helvetica Neue"/>
              </a:rPr>
              <a:t>Hybrid retrieval, not just a vector lookup.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29200"/>
            <a:ext cx="11091672" cy="128016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029200"/>
            <a:ext cx="91440" cy="12801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2064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Helvetica Neue"/>
              </a:rPr>
              <a:t>3. 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138928"/>
            <a:ext cx="86868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Menlo"/>
              </a:rPr>
              <a:t>“The Pine Labs webhook outage is P1 OPEN with an ETA of approximately 4 hours from July 15, 2025. [Source: multimedia/incident-status-board.md | Section 1]”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43600"/>
            <a:ext cx="106984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Helvetica Neue"/>
              </a:rPr>
              <a:t>Grounding check passes, every claim is verbatim in the source.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Helvetica Neue"/>
              </a:rPr>
              <a:t>SMRITI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Helvetica Neue"/>
              </a:rPr>
              <a:t>internal knowledge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Helvetica Neue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 Neue"/>
              </a:rPr>
              <a:t>Traction &amp;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94A3B8"/>
                </a:solidFill>
                <a:latin typeface="Helvetica Neue"/>
              </a:rPr>
              <a:t>Working product, one warm enterprise lead, compliance-ready architecture.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Helvetica Neue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3200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800" b="1" i="0">
                <a:solidFill>
                  <a:srgbClr val="34D399"/>
                </a:solidFill>
                <a:latin typeface="Helvetica Neue"/>
              </a:rPr>
              <a:t>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Helvetica Neue"/>
              </a:rPr>
              <a:t>Multimodal RAG, on-prem, end to 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19456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33172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Helvetica Neue"/>
              </a:rPr>
              <a:t>Compliance-ready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606040"/>
            <a:ext cx="3200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800" b="1" i="0">
                <a:solidFill>
                  <a:srgbClr val="60A5FA"/>
                </a:solidFill>
                <a:latin typeface="Helvetica Neue"/>
              </a:rPr>
              <a:t>Built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33756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Helvetica Neue"/>
              </a:rPr>
              <a:t>OIDC SSO, RBAC, audit log, SBOM, no egress.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9456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33172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Helvetica Neue"/>
              </a:rPr>
              <a:t>Enterprise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606040"/>
            <a:ext cx="3200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800" b="1" i="0">
                <a:solidFill>
                  <a:srgbClr val="A78BFA"/>
                </a:solidFill>
                <a:latin typeface="Helvetica Neue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33756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Helvetica Neue"/>
              </a:rPr>
              <a:t>Global medtech (CGM), HIPAA-regulated.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23360"/>
            <a:ext cx="11109960" cy="256032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60520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elvetica Neue"/>
              </a:rPr>
              <a:t>Where we 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634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Helvetica Neue"/>
              </a:rPr>
              <a:t>▸  </a:t>
            </a:r>
            <a:r>
              <a:rPr sz="1200">
                <a:solidFill>
                  <a:srgbClr val="E5E7EB"/>
                </a:solidFill>
                <a:latin typeface="Helvetica Neue"/>
              </a:rPr>
              <a:t>Working product: 819-doc public benchmark, 64-question eval, 100% cite-or-refuse, 90% retrieval precision.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Helvetica Neue"/>
              </a:rPr>
              <a:t>▸  </a:t>
            </a:r>
            <a:r>
              <a:rPr sz="1200">
                <a:solidFill>
                  <a:srgbClr val="E5E7EB"/>
                </a:solidFill>
                <a:latin typeface="Helvetica Neue"/>
              </a:rPr>
              <a:t>One warm enterprise lead: a global medtech / CGM company, HIPAA-regulated, wants a compliance review before any real data.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Helvetica Neue"/>
              </a:rPr>
              <a:t>▸  </a:t>
            </a:r>
            <a:r>
              <a:rPr sz="1200">
                <a:solidFill>
                  <a:srgbClr val="E5E7EB"/>
                </a:solidFill>
                <a:latin typeface="Helvetica Neue"/>
              </a:rPr>
              <a:t>Pilot scope proposed: internal knowledge retrieval over non-clinical documents (SOPs, quality, policies), not clinical decision support.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Helvetica Neue"/>
              </a:rPr>
              <a:t>▸  </a:t>
            </a:r>
            <a:r>
              <a:rPr sz="1200">
                <a:solidFill>
                  <a:srgbClr val="E5E7EB"/>
                </a:solidFill>
                <a:latin typeface="Helvetica Neue"/>
              </a:rPr>
              <a:t>Compliance gaps already closed: OIDC/JWKS SSO, admin/user RBAC, append-only audit log, SBOM, security posture doc.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Helvetica Neue"/>
              </a:rPr>
              <a:t>SMRITI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45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Helvetica Neue"/>
              </a:rPr>
              <a:t>internal knowledge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Helvetica Neue"/>
              </a:rP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 Neue"/>
              </a:rPr>
              <a:t>Market &amp; business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94A3B8"/>
                </a:solidFill>
                <a:latin typeface="Helvetica Neue"/>
              </a:rPr>
              <a:t>Per-seat pricing, anchored on the audit need.</a:t>
            </a:r>
          </a:p>
        </p:txBody>
      </p:sp>
      <p:pic>
        <p:nvPicPr>
          <p:cNvPr id="9" name="Picture 8" descr="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772400" cy="4572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95360" y="2194560"/>
            <a:ext cx="3108960" cy="4297680"/>
          </a:xfrm>
          <a:prstGeom prst="roundRect">
            <a:avLst>
              <a:gd name="adj" fmla="val 6000"/>
            </a:avLst>
          </a:prstGeom>
          <a:solidFill>
            <a:srgbClr val="141B2D"/>
          </a:solidFill>
          <a:ln w="9144">
            <a:solidFill>
              <a:srgbClr val="2A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2331720"/>
            <a:ext cx="2834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Helvetica Neue"/>
              </a:rPr>
              <a:t>Proposed 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606040"/>
            <a:ext cx="28346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60A5FA"/>
                </a:solidFill>
                <a:latin typeface="Helvetica Neue"/>
              </a:rPr>
              <a:t>$30 / seat / 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154680"/>
            <a:ext cx="2834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Helvetica Neue"/>
              </a:rPr>
              <a:t>Minimum $60K annual contract.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657600"/>
            <a:ext cx="2834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Helvetica Neue"/>
              </a:rPr>
              <a:t>Land &amp; expand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977639"/>
            <a:ext cx="2834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Helvetica Neue"/>
              </a:rPr>
              <a:t>▸  </a:t>
            </a:r>
            <a:r>
              <a:rPr sz="1200">
                <a:solidFill>
                  <a:srgbClr val="E5E7EB"/>
                </a:solidFill>
                <a:latin typeface="Helvetica Neue"/>
              </a:rPr>
              <a:t>Land: 1 team, ~50 seats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Helvetica Neue"/>
              </a:rPr>
              <a:t>▸  </a:t>
            </a:r>
            <a:r>
              <a:rPr sz="1200">
                <a:solidFill>
                  <a:srgbClr val="E5E7EB"/>
                </a:solidFill>
                <a:latin typeface="Helvetica Neue"/>
              </a:rPr>
              <a:t>Expand: compliance, legal, ops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Helvetica Neue"/>
              </a:rPr>
              <a:t>▸  </a:t>
            </a:r>
            <a:r>
              <a:rPr sz="1200">
                <a:solidFill>
                  <a:srgbClr val="E5E7EB"/>
                </a:solidFill>
                <a:latin typeface="Helvetica Neue"/>
              </a:rPr>
              <a:t>Upsell: on-prem hosting + audit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